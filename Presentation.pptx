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91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12" r:id="rId17"/>
    <p:sldId id="313" r:id="rId18"/>
    <p:sldId id="314" r:id="rId19"/>
    <p:sldId id="306" r:id="rId20"/>
    <p:sldId id="307" r:id="rId21"/>
    <p:sldId id="309" r:id="rId22"/>
    <p:sldId id="311" r:id="rId23"/>
    <p:sldId id="308" r:id="rId24"/>
    <p:sldId id="310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0C43B6-FCC3-40F2-8CEA-5FC8809A2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4E1181-77FF-440B-90D0-68ECEC5C5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8C31CE-22A4-492D-8ED3-30837710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41AEB4-5C85-456B-9E84-D0C611B47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B8376F-7FE1-4540-B744-42E8823F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75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2FE5B8-CB89-47B2-A697-5D6D7DEF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301943-ABC8-4EB7-BE37-6861CEAB8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D8BE7E-C821-4C60-9466-3CD69DA3F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0CAB45-CA4A-4CEC-B56B-5677C8D75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CADDB4-C695-4608-83EF-7AF5C5C97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5E164D-4DE7-4E06-A886-843F08241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BA542E-3F21-4E45-81FF-963B113E3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5E0088-AEB8-477D-B77F-59F4F8F43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7969D5-F94E-4C39-A733-D37F011F2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7FDC3F-A9DF-4C2E-B919-63C2E8E5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886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EA2C2-EFC3-48A9-A8BE-B2DB289D8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FFC294-EB57-4A29-8AE7-9395D019E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266142-6E14-4C1F-BE51-FAC3BED7E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CCD7FF-94BB-408E-A287-0D40E7B5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FEA79C-9A1C-42FA-9EE5-E483D4CB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215A23-0049-472A-AB8D-8F4D10C09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26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0261DD-F728-495C-81DF-B3BE287F6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B08A05-3ABE-43DD-9286-5BB924E70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69087D-F6CC-403F-B0A1-48884F8A1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52CB24-10C3-494F-ADE9-D5A0CC168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E5B0305-76EC-46EA-96AF-0F9278A773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D5635DF-F712-4B9D-B221-37EFA641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2DBEAC2-D2FB-4335-A52B-4945D4C4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06322B-BA3D-4376-8985-88FEF53B6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54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6EB3C-F3F9-4E8E-B518-23B236F97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1FF2A1A-0FEF-4074-BBD6-2652EB9E0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02C943E-34FC-4977-AAC3-ED1A83D63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3FDF32-6D0A-4BDF-AA8C-E2C03CF3C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680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C5F9D68-8C16-4BDD-9BED-F70DCA6BC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C9FD369-67A9-4CBC-8197-0BC4B97A2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D3EB2D-A77B-4E91-A2E6-946057EE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64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F5369-2C8C-4602-84B0-3AF1A8F19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ECF0FB-B7CB-4B0B-A72B-E03957E8C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897F7F-0A4C-4758-881E-3FCE86ADA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DB8219-69CA-4215-8E8A-8E940C1F8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711DA8-2A80-4E91-BFE4-B6C3F2372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FC7614-4085-453F-AB1B-0BCAC6BF4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351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642C54-5740-433A-8D28-8369D5B4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073A77-1227-4DF0-A365-37FC25B173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C33BA1-B502-418E-8406-6E0EB7F72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E75A1E-2B35-4CD9-AACD-20221A9C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D9C254-FA74-4AB5-ABF9-C98E14BC7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D5FF9B-8338-474E-8F84-8AB1D2EB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00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C4E3E-F119-48A1-8581-3F439BB6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6D29AA3-E28B-45CD-8B4D-33BCCC6B8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34756C-8FE8-4ECB-9CEF-BBDF4EEFB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C0BCE8-E178-4762-8E59-B06C1530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38D52C-36EE-4541-94A3-622A02E3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162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3D45126-E3AE-44CA-9FC9-BFD8C048C1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A47DF9-CF9E-4BF8-AF84-3E37AD361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B116C4-567A-409E-90D8-36FC9F53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1317D-65A9-4F36-85E2-C40FF9D02A5C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33A1FA-B361-4307-BD83-D96A093FC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D01786-42AE-408B-A219-E9E18321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3241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25973-DAD4-454D-965D-7804602BD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507F05-425B-437A-A815-030A44B4E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D346A1-5D49-43D7-A808-C8BC88C84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1317D-65A9-4F36-85E2-C40FF9D02A5C}" type="datetimeFigureOut">
              <a:rPr lang="ru-RU" smtClean="0"/>
              <a:t>18.04.2025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44A7C4-A1B5-4976-9761-3EC42E7B9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817A31-7473-4D0B-B073-668EBF832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36AB-72D4-4BBF-85ED-DF989FAA4E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31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61F9E-0B07-4BB3-8CCA-A21E6F170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8" y="1362292"/>
            <a:ext cx="11277600" cy="1901500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Отчет по производственной практике </a:t>
            </a:r>
            <a:b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ПМ.01 Разработка модулей программного обеспечения для компьютерных систем</a:t>
            </a:r>
            <a:b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Тема: «Разработка программного модуля «Учет пациентов в медицинском учреждении»»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E2556A-8C10-4DCD-8E29-4626101B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5700" y="3263792"/>
            <a:ext cx="3823235" cy="3238391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Коротких Наталья Михайловна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Специальность: 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09.02.07 Информационные системы и программирование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21П-1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обучения: очная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 от колледжа: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Калинин Арсений Олегович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 от организации: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Павленко Сергей Михайлович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C5ED6EA-F80B-4D7B-9656-F38219709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931" y="355817"/>
            <a:ext cx="7704137" cy="1006475"/>
          </a:xfrm>
          <a:prstGeom prst="rect">
            <a:avLst/>
          </a:prstGeom>
          <a:solidFill>
            <a:schemeClr val="bg1">
              <a:alpha val="4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pic>
        <p:nvPicPr>
          <p:cNvPr id="5" name="Picture 14" descr="touch-icon-ipad-retina">
            <a:extLst>
              <a:ext uri="{FF2B5EF4-FFF2-40B4-BE49-F238E27FC236}">
                <a16:creationId xmlns:a16="http://schemas.microsoft.com/office/drawing/2014/main" id="{3F50CCB7-BCFB-4B90-80AF-73B2EABBC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522" y="109646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5">
            <a:extLst>
              <a:ext uri="{FF2B5EF4-FFF2-40B4-BE49-F238E27FC236}">
                <a16:creationId xmlns:a16="http://schemas.microsoft.com/office/drawing/2014/main" id="{A44A0B62-7BFA-4EE7-82BC-8DBA0521E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754" y="6179704"/>
            <a:ext cx="2376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– 2025 уч. г.</a:t>
            </a:r>
          </a:p>
        </p:txBody>
      </p:sp>
    </p:spTree>
    <p:extLst>
      <p:ext uri="{BB962C8B-B14F-4D97-AF65-F5344CB8AC3E}">
        <p14:creationId xmlns:p14="http://schemas.microsoft.com/office/powerpoint/2010/main" val="204699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A0527-4F8C-457C-A1E8-DB5FDE156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Сведения об организации (базе практики)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B325B5-11CF-4716-86FA-91ABEA1E2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0157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Наименование базы практики – ООО «Электрон-Софт». 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Адрес – Кировская область, г. Киров, ул. Ленина, д. 68.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ФИО руководителя (директора) – Устюжанинов Вадим Борисович.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Более 28 лет компания «Электрон-Софт» занимается внедрением и обслуживанием систем управленческого и бухгалтерского учета торговых, промышленных и бюджетных организаций.</a:t>
            </a:r>
            <a:endParaRPr lang="ru-RU" sz="2400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F70E6CA9-6D72-49D7-9340-A42B94B5228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</p:spTree>
    <p:extLst>
      <p:ext uri="{BB962C8B-B14F-4D97-AF65-F5344CB8AC3E}">
        <p14:creationId xmlns:p14="http://schemas.microsoft.com/office/powerpoint/2010/main" val="3796620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B8B510A-0F56-453E-B620-2DB3717425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7"/>
          <a:stretch/>
        </p:blipFill>
        <p:spPr bwMode="auto">
          <a:xfrm>
            <a:off x="4474723" y="2628476"/>
            <a:ext cx="3242554" cy="40176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515FEBCB-183D-4F35-B5E0-CFD54B5600ED}"/>
              </a:ext>
            </a:extLst>
          </p:cNvPr>
          <p:cNvSpPr txBox="1">
            <a:spLocks/>
          </p:cNvSpPr>
          <p:nvPr/>
        </p:nvSpPr>
        <p:spPr>
          <a:xfrm>
            <a:off x="838199" y="132135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26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Рабочее место оснащено ноутбуком с операционной системой Майкрософт Windows 10 Pro, процессор – AMD 3020e </a:t>
            </a:r>
            <a:r>
              <a:rPr lang="ru-RU" sz="2600" kern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6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Radeon Graphics, 1200 МГц, ядер: 2, логических процессоров: 2.</a:t>
            </a:r>
            <a:endParaRPr lang="ru-RU" sz="2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9F28CFD-1EF9-486A-88D5-5F0BFE459185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A5A0152-D6B7-4677-8D2B-D739650FB1D4}"/>
              </a:ext>
            </a:extLst>
          </p:cNvPr>
          <p:cNvSpPr txBox="1">
            <a:spLocks/>
          </p:cNvSpPr>
          <p:nvPr/>
        </p:nvSpPr>
        <p:spPr>
          <a:xfrm>
            <a:off x="838200" y="639619"/>
            <a:ext cx="10515600" cy="10510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Рабочее место</a:t>
            </a:r>
          </a:p>
        </p:txBody>
      </p:sp>
    </p:spTree>
    <p:extLst>
      <p:ext uri="{BB962C8B-B14F-4D97-AF65-F5344CB8AC3E}">
        <p14:creationId xmlns:p14="http://schemas.microsoft.com/office/powerpoint/2010/main" val="3403820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анализ технического 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На основании изучения предметной области и заявки заказчика определены ключевые требования к функционалу модуля: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Основные функции модуля: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Учет пациентов: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новых пациентов (внесение персональных данных: ФИО, дата рождения, контакты).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Ведение списка пациентов с возможностью поиска и фильтрации.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Управление данными: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и редактирование информации о пациентах.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</p:spTree>
    <p:extLst>
      <p:ext uri="{BB962C8B-B14F-4D97-AF65-F5344CB8AC3E}">
        <p14:creationId xmlns:p14="http://schemas.microsoft.com/office/powerpoint/2010/main" val="90369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анализ технического 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вариантов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D64C61-6F6E-401E-A6F9-9FB28BBC0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170" y="1679052"/>
            <a:ext cx="6809362" cy="464448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2450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в соответствии техническому заданию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базы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BDFEEA-D147-40AA-80C9-CC402A27A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991" y="1825625"/>
            <a:ext cx="8575184" cy="465899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461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API системы было разработано на платформе ASP.NET Web API (.NET Framework) с использованием модели ADO.NET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для взаимодействия с базой данных.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Авторизация: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/auth/login</a:t>
            </a: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59597D3-CB74-4C4B-9B6B-AA4604CDE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в соответствии техническому заданию</a:t>
            </a:r>
          </a:p>
        </p:txBody>
      </p:sp>
      <p:grpSp>
        <p:nvGrpSpPr>
          <p:cNvPr id="8" name="Группа 6">
            <a:extLst>
              <a:ext uri="{FF2B5EF4-FFF2-40B4-BE49-F238E27FC236}">
                <a16:creationId xmlns:a16="http://schemas.microsoft.com/office/drawing/2014/main" id="{53A4D4FD-EF3C-47B5-B22B-E7F62CF6227F}"/>
              </a:ext>
            </a:extLst>
          </p:cNvPr>
          <p:cNvGrpSpPr>
            <a:grpSpLocks/>
          </p:cNvGrpSpPr>
          <p:nvPr/>
        </p:nvGrpSpPr>
        <p:grpSpPr bwMode="auto">
          <a:xfrm>
            <a:off x="5632560" y="3078603"/>
            <a:ext cx="5364163" cy="3589338"/>
            <a:chOff x="0" y="0"/>
            <a:chExt cx="110163" cy="58753"/>
          </a:xfrm>
        </p:grpSpPr>
        <p:pic>
          <p:nvPicPr>
            <p:cNvPr id="1027" name="Рисунок 31">
              <a:extLst>
                <a:ext uri="{FF2B5EF4-FFF2-40B4-BE49-F238E27FC236}">
                  <a16:creationId xmlns:a16="http://schemas.microsoft.com/office/drawing/2014/main" id="{7B6DEDF6-F6F9-4029-9808-77ACDB6A90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95"/>
            <a:stretch>
              <a:fillRect/>
            </a:stretch>
          </p:blipFill>
          <p:spPr bwMode="auto">
            <a:xfrm>
              <a:off x="0" y="0"/>
              <a:ext cx="110163" cy="58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Прямоугольник 36">
              <a:extLst>
                <a:ext uri="{FF2B5EF4-FFF2-40B4-BE49-F238E27FC236}">
                  <a16:creationId xmlns:a16="http://schemas.microsoft.com/office/drawing/2014/main" id="{B64C5FD4-49AC-40F5-B180-C7509DCB2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65" y="37661"/>
              <a:ext cx="88782" cy="10367"/>
            </a:xfrm>
            <a:prstGeom prst="rect">
              <a:avLst/>
            </a:prstGeom>
            <a:solidFill>
              <a:srgbClr val="212121"/>
            </a:solidFill>
            <a:ln w="12700">
              <a:solidFill>
                <a:srgbClr val="21212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en-US" altLang="ru-RU" sz="1800" b="0" i="0" u="none" strike="noStrike" cap="none" normalizeH="0" baseline="0">
                  <a:ln>
                    <a:noFill/>
                  </a:ln>
                  <a:solidFill>
                    <a:srgbClr val="CD8A61"/>
                  </a:solidFill>
                  <a:effectLst/>
                  <a:latin typeface="Calibri" panose="020F0502020204030204" pitchFamily="34" charset="0"/>
                </a:rPr>
                <a:t>…</a:t>
              </a:r>
              <a:endPara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1447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Работа с пациентами: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Метод: GET 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59597D3-CB74-4C4B-9B6B-AA4604CDE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в соответствии техническому заданию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35D6DEC-C748-4EF4-BC38-F67DF9BF08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514"/>
          <a:stretch/>
        </p:blipFill>
        <p:spPr bwMode="auto">
          <a:xfrm>
            <a:off x="4777556" y="2443830"/>
            <a:ext cx="6805188" cy="41302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87196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Работа с врачами: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Метод: GET 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doctors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59597D3-CB74-4C4B-9B6B-AA4604CDE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в соответствии техническому заданию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FC0FA2-A4A0-4B8E-AFD9-AA874811B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851" y="1894255"/>
            <a:ext cx="6988416" cy="468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27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Работа с врачами: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Метод: POST 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doctors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59597D3-CB74-4C4B-9B6B-AA4604CDE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в соответствии техническому заданию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969FF65-BD2E-43C0-BED7-3AA3FBD79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431" y="2115084"/>
            <a:ext cx="7061782" cy="436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781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Документация для API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59597D3-CB74-4C4B-9B6B-AA4604CDE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в соответствии техническому заданию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267750C-EFC5-4497-A329-1E04A9C681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87" t="10215" r="25370" b="9959"/>
          <a:stretch/>
        </p:blipFill>
        <p:spPr bwMode="auto">
          <a:xfrm>
            <a:off x="4547436" y="1825625"/>
            <a:ext cx="7164828" cy="4560888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4170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библиотеки для работы с данными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369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Библиотека данных реализована в виде Библиотеки классов (.NET Framework) и предоставляет функционал для работы с медицинскими данными пациентов.</a:t>
            </a:r>
          </a:p>
          <a:p>
            <a:pPr marL="0" indent="0" algn="just">
              <a:buNone/>
            </a:pP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Методы работы с данными:</a:t>
            </a:r>
          </a:p>
          <a:p>
            <a:pPr marL="0" indent="0" algn="just">
              <a:buNone/>
            </a:pPr>
            <a:r>
              <a:rPr lang="ru-RU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GetPatientCount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</a:t>
            </a:r>
          </a:p>
          <a:p>
            <a:pPr marL="0" indent="0" algn="just">
              <a:buNone/>
            </a:pP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общего количества </a:t>
            </a:r>
          </a:p>
          <a:p>
            <a:pPr marL="0" indent="0" algn="just">
              <a:buNone/>
            </a:pP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пациентов.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CE19A6-CEF0-4874-97BC-E34D442A8A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749"/>
          <a:stretch/>
        </p:blipFill>
        <p:spPr>
          <a:xfrm>
            <a:off x="5432972" y="2900932"/>
            <a:ext cx="6245413" cy="374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16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библиотеки для работы с данными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369"/>
            <a:ext cx="5257800" cy="820829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GetMalePatientCount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получение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количества пациентов мужского пола.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3394784-6B6C-4017-991D-2F948BC94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83" y="2699194"/>
            <a:ext cx="5016651" cy="28416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DF8DA7-DCB6-44DF-A6A6-60AF692F1C1B}"/>
              </a:ext>
            </a:extLst>
          </p:cNvPr>
          <p:cNvSpPr txBox="1"/>
          <p:nvPr/>
        </p:nvSpPr>
        <p:spPr>
          <a:xfrm>
            <a:off x="6846871" y="1585720"/>
            <a:ext cx="6097604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800"/>
              </a:spcAft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GetFemalePatientCount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получение</a:t>
            </a:r>
          </a:p>
          <a:p>
            <a:pPr lvl="0" algn="just">
              <a:spcAft>
                <a:spcPts val="800"/>
              </a:spcAft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количества пациентов женского пола.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3C04297-9736-4558-9223-8B5F3245C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867" y="2687955"/>
            <a:ext cx="5132323" cy="284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69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библиотеки для работы с данными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Результат работы библиотеки.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925B46-98C8-4DD4-99DB-77F90CD2A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030" y="2680280"/>
            <a:ext cx="3359940" cy="372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12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настольного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750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Окна добавления врача и пользователя для администратора.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7AC839-966C-41DE-A062-5939E6EFE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699" y="2345932"/>
            <a:ext cx="3718407" cy="426322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450F97-2382-4991-9E89-18DA20C26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605" y="2345932"/>
            <a:ext cx="3803162" cy="426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1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настольного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750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списка пациентов для регистратора.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0D2E4F-8C18-41F5-9C8D-40E6245E9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262" y="2470150"/>
            <a:ext cx="7571933" cy="40227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4550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настольного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750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регистрации нового пациента для регистратора.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35167C7-A578-4C6D-B913-2F5734AA6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776" y="2314576"/>
            <a:ext cx="7864447" cy="41782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8263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настольного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750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редактирования пациента для регистратора.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FBE6B87-F569-4543-A146-281DC4D3F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364" y="2453521"/>
            <a:ext cx="7949271" cy="42235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88083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Мобильное приложение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Xamarin.Forms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предназначено для записи пациента на прием к специалисту. Основной функционал: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Регистрация и авторизация пользователя.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Просмотр информации о пациенте.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Запись на прием к выбранному специалисту.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38ECF0-0A7D-4349-8352-78D3162568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8" b="27201"/>
          <a:stretch/>
        </p:blipFill>
        <p:spPr bwMode="auto">
          <a:xfrm>
            <a:off x="7816849" y="2533650"/>
            <a:ext cx="2717801" cy="412392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40439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документации на программный модуль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Было разработано руководство оператора для мобильного приложения.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(Техническая документация для администратора/поддержки).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56B3286-48F1-4816-A9FA-FB2EA12C0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213" y="2747397"/>
            <a:ext cx="5939574" cy="392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12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Выполнение отладки и тестирования программного модуля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Пошаговое выполнение кода с помощью использования точек останова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Breakpoints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для анализа состояния переменных.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Мониторинг памяти и производительности.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9A45EC-F200-4F68-8AA1-A4341A24C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22357"/>
            <a:ext cx="4956630" cy="22640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CA6DDB2-B3F1-47BE-A7CB-307AC2130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749" y="3113305"/>
            <a:ext cx="3044825" cy="344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22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Выполнение отладки и тестирования программного модуля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41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Тестирование функциональности настольного приложения с помощью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unit-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тестов.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	Для тестирования интерфейса мобильного приложения разработаны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TestCase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5FB168-CA71-4214-962E-5D9E7280D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824" y="3001962"/>
            <a:ext cx="4086351" cy="372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575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Рефакторинг и оптимизации программного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36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Асинхронное выполнение операций.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C5A13F-2443-4BA1-A56B-EE3F3D4A5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454" y="2360766"/>
            <a:ext cx="6082346" cy="1607832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39672248-E85F-40C6-A6F6-A6A3EC725687}"/>
              </a:ext>
            </a:extLst>
          </p:cNvPr>
          <p:cNvSpPr txBox="1">
            <a:spLocks/>
          </p:cNvSpPr>
          <p:nvPr/>
        </p:nvSpPr>
        <p:spPr>
          <a:xfrm>
            <a:off x="838200" y="4252272"/>
            <a:ext cx="10668000" cy="1690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 валидации данных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BDA3E8B-085F-472A-94E2-1F5FFC85D17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465127" y="4932209"/>
            <a:ext cx="5490845" cy="137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35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64DF2-3BD7-49BE-9DC2-26C06F789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F11B-8BB0-4FAD-9A18-2B8AB8DF4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5975"/>
            <a:ext cx="10515600" cy="40909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В ходе прохождения производственной практики по модулю ПМ01 Разработка модулей программного обеспечения для компьютерных систем с 20 марта по 21 апреля 2025 года в организации «Электрон-Софт» был успешно разработан программный модуль «Учет пациентов в медицинском учреждении».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D35E32-C872-4C00-803C-05815757DBE8}"/>
              </a:ext>
            </a:extLst>
          </p:cNvPr>
          <p:cNvSpPr txBox="1">
            <a:spLocks/>
          </p:cNvSpPr>
          <p:nvPr/>
        </p:nvSpPr>
        <p:spPr>
          <a:xfrm>
            <a:off x="1421859" y="90631"/>
            <a:ext cx="10515600" cy="548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модуля «Учет пациентов в медицинском учреждении»»</a:t>
            </a:r>
          </a:p>
        </p:txBody>
      </p:sp>
    </p:spTree>
    <p:extLst>
      <p:ext uri="{BB962C8B-B14F-4D97-AF65-F5344CB8AC3E}">
        <p14:creationId xmlns:p14="http://schemas.microsoft.com/office/powerpoint/2010/main" val="39588245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916</Words>
  <Application>Microsoft Office PowerPoint</Application>
  <PresentationFormat>Широкоэкранный</PresentationFormat>
  <Paragraphs>116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Тема Office</vt:lpstr>
      <vt:lpstr>Отчет по производственной практике  ПМ.01 Разработка модулей программного обеспечения для компьютерных систем  Тема: «Разработка программного модуля «Учет пациентов в медицинском учреждении»»</vt:lpstr>
      <vt:lpstr>Сведения об организации (базе практики)</vt:lpstr>
      <vt:lpstr>Презентация PowerPoint</vt:lpstr>
      <vt:lpstr>Разработка и анализ технического задания</vt:lpstr>
      <vt:lpstr>Разработка и анализ технического задания</vt:lpstr>
      <vt:lpstr>Разработка программного модуля в соответствии техническому заданию</vt:lpstr>
      <vt:lpstr>Разработка программного модуля в соответствии техническому заданию</vt:lpstr>
      <vt:lpstr>Разработка программного модуля в соответствии техническому заданию</vt:lpstr>
      <vt:lpstr>Разработка программного модуля в соответствии техническому заданию</vt:lpstr>
      <vt:lpstr>Разработка программного модуля в соответствии техническому заданию</vt:lpstr>
      <vt:lpstr>Разработка программного модуля в соответствии техническому заданию</vt:lpstr>
      <vt:lpstr>Разработка библиотеки для работы с данными</vt:lpstr>
      <vt:lpstr>Разработка библиотеки для работы с данными</vt:lpstr>
      <vt:lpstr>Разработка библиотеки для работы с данными</vt:lpstr>
      <vt:lpstr>Разработка настольного приложения</vt:lpstr>
      <vt:lpstr>Разработка настольного приложения</vt:lpstr>
      <vt:lpstr>Разработка настольного приложения</vt:lpstr>
      <vt:lpstr>Разработка настольного приложения</vt:lpstr>
      <vt:lpstr>Разработка мобильного приложения</vt:lpstr>
      <vt:lpstr>Оформление документации на программный модуль</vt:lpstr>
      <vt:lpstr>Выполнение отладки и тестирования программного модуля</vt:lpstr>
      <vt:lpstr>Выполнение отладки и тестирования программного модуля</vt:lpstr>
      <vt:lpstr>Рефакторинг и оптимизации программного кода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Наташа Коротких</dc:creator>
  <cp:lastModifiedBy>Наташа Коротких</cp:lastModifiedBy>
  <cp:revision>81</cp:revision>
  <dcterms:created xsi:type="dcterms:W3CDTF">2025-03-15T07:35:09Z</dcterms:created>
  <dcterms:modified xsi:type="dcterms:W3CDTF">2025-04-18T19:19:26Z</dcterms:modified>
</cp:coreProperties>
</file>